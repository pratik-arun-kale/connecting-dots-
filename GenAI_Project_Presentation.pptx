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GenAI Project Experience</a:t>
            </a:r>
          </a:p>
          <a:p/>
          <a:p>
            <a:r>
              <a:t>This project is a full-stack AI productivity tool called 'Context Workspace.' It has four components: a Chrome Extension for capturing AI conversations, a FastAPI async backend persisting data to PostgreSQL, a Next.js dashboard for reviewing captured context, and a standalone Advanced RAG pipeline for HR policy Q&amp;A.</a:t>
            </a:r>
          </a:p>
          <a:p/>
          <a:p>
            <a:r>
              <a:t>The RAG pipeline uses a full advanced retrieval chain: token-based chunking → sentence-transformer embeddings → ChromaDB vector store → hybrid BM25 + vector retrieval → RRF fusion → cross-encoder reranking → confidence grading → corrective retrieval fallback → RoBERTa extractive QA → answer with citation.</a:t>
            </a:r>
          </a:p>
          <a:p/>
          <a:p>
            <a:r>
              <a:t>Key differentiator: confidence grading automatically classifies retrieval quality as HIGH/MEDIUM/LOW based on cross-encoder score and retrieval agreement between BM25 and vector search. LOW confidence triggers corrective retrieval (synonym expansion or query simplification).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Solution Architecture</a:t>
            </a:r>
          </a:p>
          <a:p/>
          <a:p>
            <a:r>
              <a:t>The system has five layers:</a:t>
            </a:r>
          </a:p>
          <a:p>
            <a:r>
              <a:t>1. User Layer: The user browses AI platforms (ChatGPT, Claude, Gemini, Perplexity)</a:t>
            </a:r>
          </a:p>
          <a:p>
            <a:r>
              <a:t>2. Capture Layer: Chrome Extension MV3 with React popup; Content Scripts auto-scroll and extract DOM</a:t>
            </a:r>
          </a:p>
          <a:p>
            <a:r>
              <a:t>3. Processing Layer: Background Service Worker uses chrome.scripting.executeScript to inject extraction logic, builds idempotency keys via SHA-256, enqueues captures with exponential backoff retry</a:t>
            </a:r>
          </a:p>
          <a:p>
            <a:r>
              <a:t>4. Storage Layer: FastAPI backend with pure-ASGI ExtensionCORSMiddleware shim, PostgreSQL via SQLAlchemy async, Redis (future)</a:t>
            </a:r>
          </a:p>
          <a:p>
            <a:r>
              <a:t>5. Presentation: Next.js dashboard with TanStack Query</a:t>
            </a:r>
          </a:p>
          <a:p/>
          <a:p>
            <a:r>
              <a:t>The Advanced RAG Pipeline is a separate module that will integrate with the backend to provide intelligent Q&amp;A over captured context. It uses hybrid BM25+vector retrieval, RRF fusion, cross-encoder reranking, and RoBERTa extractive 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Production Issues &amp; Resolutions</a:t>
            </a:r>
          </a:p>
          <a:p/>
          <a:p>
            <a:r>
              <a:t>Issue 1 (CORS): The root cause was a three-layer problem — BaseHTTPMiddleware silently consumed CORS headers, and a ghost uvicorn process was still bound to port 8000. Resolution: Pure-ASGI ExtensionCORSMiddleware shim + kill ghost processes via WMI.</a:t>
            </a:r>
          </a:p>
          <a:p/>
          <a:p>
            <a:r>
              <a:t>Issue 2 (Context Extraction): chrome.tabs.sendMessage requires content scripts to be pre-registered. Replaced with chrome.scripting.executeScript which injects extraction logic on demand, eliminating content script lifecycle dependency.</a:t>
            </a:r>
          </a:p>
          <a:p/>
          <a:p>
            <a:r>
              <a:t>Issue 3 (RAG Confidence): Average reranker score over all candidates was misleading. Switched to top-score + score-margin + retrieval agreement composite signal, with upgrade/downgrade rules based on BM25 and vector search 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AI Agent Development</a:t>
            </a:r>
          </a:p>
          <a:p/>
          <a:p>
            <a:r>
              <a:t>While this project does not use LangChain, LangGraph, CrewAI or MCP, it implements several agentic design patterns from first principles:</a:t>
            </a:r>
          </a:p>
          <a:p/>
          <a:p>
            <a:r>
              <a:t>1. Query Decomposition: Multi-part queries are split into independent subqueries, each run through the full pipeline</a:t>
            </a:r>
          </a:p>
          <a:p>
            <a:r>
              <a:t>2. Corrective Retrieval: A feedback loop where the system grades its own retrieval confidence and retries with a modified query strategy</a:t>
            </a:r>
          </a:p>
          <a:p>
            <a:r>
              <a:t>3. Confidence Grading: The system makes an autonomous decision about whether to return an answer, trigger corrective retrieval, or return 'Insufficient evidence'</a:t>
            </a:r>
          </a:p>
          <a:p>
            <a:r>
              <a:t>4. Chrome Extension as Capture Agent: Autonomously detects AI platform, auto-scrolls for lazy-loaded content, extracts structured conversation, generates idempotency key, queues with retry — all without user intervention</a:t>
            </a:r>
          </a:p>
          <a:p>
            <a:r>
              <a:t>5. Durable Task Queue: CaptureQueue persists to chrome.storage.local and survives service worker restarts</a:t>
            </a:r>
          </a:p>
          <a:p/>
          <a:p>
            <a:r>
              <a:t>Next step: integrate LangGraph to formalize the corrective retrieval loop as a graph with conditional edges, and wire the Advanced RAG pipeline into the FastAPI backend as a /query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Additional Work</a:t>
            </a:r>
          </a:p>
          <a:p/>
          <a:p>
            <a:r>
              <a:t>Production features actually implemented:</a:t>
            </a:r>
          </a:p>
          <a:p>
            <a:r>
              <a:t>- Multi-stage Docker build with non-root user and health check</a:t>
            </a:r>
          </a:p>
          <a:p>
            <a:r>
              <a:t>- Alembic migration pipeline with 5 ordered versions</a:t>
            </a:r>
          </a:p>
          <a:p>
            <a:r>
              <a:t>- Repository + Service pattern for clean separation of SQL and business logic</a:t>
            </a:r>
          </a:p>
          <a:p>
            <a:r>
              <a:t>- structlog structured logging (JSON) on every request</a:t>
            </a:r>
          </a:p>
          <a:p>
            <a:r>
              <a:t>- pytest-asyncio test suite covering all API routes and core services</a:t>
            </a:r>
          </a:p>
          <a:p>
            <a:r>
              <a:t>- SHA-256 idempotent capture preventing duplicate context storage</a:t>
            </a:r>
          </a:p>
          <a:p/>
          <a:p>
            <a:r>
              <a:t>Chrome Extension engineering decisions:</a:t>
            </a:r>
          </a:p>
          <a:p>
            <a:r>
              <a:t>- Switched from Vite ESM to IIFE format to resolve MIME type errors in Chrome extension loading</a:t>
            </a:r>
          </a:p>
          <a:p>
            <a:r>
              <a:t>- Custom Zustand adapter for chrome.storage.local persistence across popup opens</a:t>
            </a:r>
          </a:p>
          <a:p>
            <a:r>
              <a:t>- Durable CaptureQueue survives Service Worker restarts with exponential backoff</a:t>
            </a:r>
          </a:p>
          <a:p/>
          <a:p>
            <a:r>
              <a:t>Roadmap: connect RAG engine to backend as /query endpoint, formalize corrective retrieval with LangGraph, add generative answer layer (GPT-4o or Claude).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109728"/>
            <a:ext cx="502920" cy="274320"/>
          </a:xfrm>
          <a:prstGeom prst="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03152" y="91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01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GenAI / Agentic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BDF8"/>
                </a:solidFill>
                <a:latin typeface="Segoe UI"/>
              </a:rPr>
              <a:t>Project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0"/>
                </a:solidFill>
                <a:latin typeface="Segoe UI"/>
              </a:rPr>
              <a:t>Context Workspace + Advanced RAG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" y="1481328"/>
            <a:ext cx="10970056" cy="12700"/>
          </a:xfrm>
          <a:prstGeom prst="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627632"/>
            <a:ext cx="2697480" cy="2011680"/>
          </a:xfrm>
          <a:prstGeom prst="rect">
            <a:avLst/>
          </a:prstGeom>
          <a:solidFill>
            <a:srgbClr val="1E243B"/>
          </a:solidFill>
          <a:ln w="1905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627632"/>
            <a:ext cx="2697480" cy="54864"/>
          </a:xfrm>
          <a:prstGeom prst="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1907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56CF"/>
                </a:solidFill>
                <a:latin typeface="Segoe UI"/>
              </a:rPr>
              <a:t>Chrome Extension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39112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3E8"/>
                </a:solidFill>
                <a:latin typeface="Segoe UI"/>
              </a:rPr>
              <a:t>Manifest V3 · React 18
Captures AI conversations
from ChatGPT, Claude,
Gemini, Perplexity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2112" y="1627632"/>
            <a:ext cx="2697480" cy="2011680"/>
          </a:xfrm>
          <a:prstGeom prst="rect">
            <a:avLst/>
          </a:prstGeom>
          <a:solidFill>
            <a:srgbClr val="1E24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82112" y="1627632"/>
            <a:ext cx="26974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9272" y="171907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FastAPI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2039112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3E8"/>
                </a:solidFill>
                <a:latin typeface="Segoe UI"/>
              </a:rPr>
              <a:t>Async PostgreSQL · SQLAlchemy
Context ingestion API
Idempotent capture
Structured logging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44184" y="1627632"/>
            <a:ext cx="2697480" cy="2011680"/>
          </a:xfrm>
          <a:prstGeom prst="rect">
            <a:avLst/>
          </a:prstGeom>
          <a:solidFill>
            <a:srgbClr val="1E24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44184" y="1627632"/>
            <a:ext cx="269748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1344" y="171907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Segoe UI"/>
              </a:rPr>
              <a:t>Next.js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2039112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3E8"/>
                </a:solidFill>
                <a:latin typeface="Segoe UI"/>
              </a:rPr>
              <a:t>TanStack Query · TypeScript
Project management
Context viewer
Real-time sync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6256" y="1627632"/>
            <a:ext cx="2697480" cy="2011680"/>
          </a:xfrm>
          <a:prstGeom prst="rect">
            <a:avLst/>
          </a:prstGeom>
          <a:solidFill>
            <a:srgbClr val="1E24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6256" y="1627632"/>
            <a:ext cx="269748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43416" y="171907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egoe UI"/>
              </a:rPr>
              <a:t>Advanced 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3416" y="2039112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3E8"/>
                </a:solidFill>
                <a:latin typeface="Segoe UI"/>
              </a:rPr>
              <a:t>Hybrid retrieval · BM25+Vector
Cross-encoder reranking
ExtractiveQA · ChromaDB
Streamlit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776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56CF"/>
                </a:solidFill>
                <a:latin typeface="Segoe UI"/>
              </a:rPr>
              <a:t>ADVANCED RAG PIPELINE (DETAILED)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668" y="4032504"/>
            <a:ext cx="11457614" cy="12700"/>
          </a:xfrm>
          <a:prstGeom prst="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4096512"/>
            <a:ext cx="1051560" cy="658368"/>
          </a:xfrm>
          <a:prstGeom prst="rect">
            <a:avLst/>
          </a:prstGeom>
          <a:solidFill>
            <a:srgbClr val="6E56CF"/>
          </a:solidFill>
          <a:ln w="1270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" y="4142232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Segoe UI"/>
              </a:rPr>
              <a:t>TXT Docs
9 HR policies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9304" y="42976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01775" y="4096512"/>
            <a:ext cx="1051560" cy="658368"/>
          </a:xfrm>
          <a:prstGeom prst="rect">
            <a:avLst/>
          </a:prstGeom>
          <a:solidFill>
            <a:srgbClr val="1E243B"/>
          </a:solidFill>
          <a:ln w="1270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38351" y="4142232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Segoe UI"/>
              </a:rPr>
              <a:t>Chunker
250 tok / 50 overlap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2479" y="42976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74950" y="4096512"/>
            <a:ext cx="1051560" cy="658368"/>
          </a:xfrm>
          <a:prstGeom prst="rect">
            <a:avLst/>
          </a:prstGeom>
          <a:solidFill>
            <a:srgbClr val="1E243B"/>
          </a:solidFill>
          <a:ln w="1270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11526" y="4142232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Segoe UI"/>
              </a:rPr>
              <a:t>Embeddings
all-MiniLM-L6-v2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5654" y="42976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8125" y="4096512"/>
            <a:ext cx="1051560" cy="658368"/>
          </a:xfrm>
          <a:prstGeom prst="rect">
            <a:avLst/>
          </a:prstGeom>
          <a:solidFill>
            <a:srgbClr val="1E243B"/>
          </a:solidFill>
          <a:ln w="1270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84701" y="4142232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Segoe UI"/>
              </a:rPr>
              <a:t>ChromaDB
Vector Store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8829" y="42976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21300" y="4096512"/>
            <a:ext cx="1051560" cy="658368"/>
          </a:xfrm>
          <a:prstGeom prst="rect">
            <a:avLst/>
          </a:prstGeom>
          <a:solidFill>
            <a:srgbClr val="1E243B"/>
          </a:solidFill>
          <a:ln w="1270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57876" y="4142232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Segoe UI"/>
              </a:rPr>
              <a:t>BM25 +
Vector Retrieval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2004" y="42976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4476" y="4096512"/>
            <a:ext cx="1051560" cy="658368"/>
          </a:xfrm>
          <a:prstGeom prst="rect">
            <a:avLst/>
          </a:prstGeom>
          <a:solidFill>
            <a:srgbClr val="1E243B"/>
          </a:solidFill>
          <a:ln w="1270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1052" y="4142232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Segoe UI"/>
              </a:rPr>
              <a:t>RRF Fusion
k = 60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55180" y="42976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67651" y="4096512"/>
            <a:ext cx="1051560" cy="658368"/>
          </a:xfrm>
          <a:prstGeom prst="rect">
            <a:avLst/>
          </a:prstGeom>
          <a:solidFill>
            <a:srgbClr val="1E243B"/>
          </a:solidFill>
          <a:ln w="1270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04227" y="4142232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Segoe UI"/>
              </a:rPr>
              <a:t>Cross-Encoder
Reranker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8355" y="42976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40826" y="4096512"/>
            <a:ext cx="1051560" cy="658368"/>
          </a:xfrm>
          <a:prstGeom prst="rect">
            <a:avLst/>
          </a:prstGeom>
          <a:solidFill>
            <a:srgbClr val="1E243B"/>
          </a:solidFill>
          <a:ln w="1270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77402" y="4142232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Segoe UI"/>
              </a:rPr>
              <a:t>Confidence
Grader HIGH/MED/LOW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1530" y="42976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14001" y="4096512"/>
            <a:ext cx="1051560" cy="658368"/>
          </a:xfrm>
          <a:prstGeom prst="rect">
            <a:avLst/>
          </a:prstGeom>
          <a:solidFill>
            <a:srgbClr val="1E243B"/>
          </a:solidFill>
          <a:ln w="1270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50577" y="4142232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Segoe UI"/>
              </a:rPr>
              <a:t>RoBERTa
ExtractiveQA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74705" y="42976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787176" y="4096512"/>
            <a:ext cx="1051560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23752" y="4142232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Segoe UI"/>
              </a:rPr>
              <a:t>Answer +
Citation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4864608"/>
            <a:ext cx="7772400" cy="411480"/>
          </a:xfrm>
          <a:prstGeom prst="rect">
            <a:avLst/>
          </a:prstGeom>
          <a:solidFill>
            <a:srgbClr val="1A1F3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489204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BBF24"/>
                </a:solidFill>
                <a:latin typeface="Segoe UI"/>
              </a:rPr>
              <a:t>⚡ Corrective RAG: If confidence is LOW/MEDIUM → synonym expansion or query simplification → re-retrieve → re-grade (max 2 attempts)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0" y="4800600"/>
            <a:ext cx="3749039" cy="1417320"/>
          </a:xfrm>
          <a:prstGeom prst="rect">
            <a:avLst/>
          </a:prstGeom>
          <a:solidFill>
            <a:srgbClr val="0E1830"/>
          </a:solidFill>
          <a:ln w="1270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21040" y="482803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Segoe UI"/>
              </a:rPr>
              <a:t>Context Capture Pipeline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510235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3E8"/>
                </a:solidFill>
                <a:latin typeface="Segoe UI"/>
              </a:rPr>
              <a:t>  1. AI Tab (ChatGPT/Claude/Gemini/Perplexity)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528523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3E8"/>
                </a:solidFill>
                <a:latin typeface="Segoe UI"/>
              </a:rPr>
              <a:t>  2. executeScript → DOM extraction → JSON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546811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3E8"/>
                </a:solidFill>
                <a:latin typeface="Segoe UI"/>
              </a:rPr>
              <a:t>  3. SHA-256 idempotency key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565099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3E8"/>
                </a:solidFill>
                <a:latin typeface="Segoe UI"/>
              </a:rPr>
              <a:t>  4. POST /api/v1/projects/{id}/capture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583387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3E8"/>
                </a:solidFill>
                <a:latin typeface="Segoe UI"/>
              </a:rPr>
              <a:t>  5. PostgreSQL → Next.js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109728"/>
            <a:ext cx="502920" cy="274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03152" y="91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02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Solution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EC0"/>
                </a:solidFill>
                <a:latin typeface="Segoe UI"/>
              </a:rPr>
              <a:t>Context Workspace — full system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447" y="868680"/>
            <a:ext cx="10970056" cy="12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" y="102412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A0AEC0"/>
                </a:solidFill>
                <a:latin typeface="Segoe UI"/>
              </a:rPr>
              <a:t>USER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" y="1874519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A0AEC0"/>
                </a:solidFill>
                <a:latin typeface="Segoe UI"/>
              </a:rPr>
              <a:t>CAPTURE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" y="27432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A0AEC0"/>
                </a:solidFill>
                <a:latin typeface="Segoe UI"/>
              </a:rPr>
              <a:t>PROCESSING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" y="36576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A0AEC0"/>
                </a:solidFill>
                <a:latin typeface="Segoe UI"/>
              </a:rPr>
              <a:t>STORAGE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" y="45720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A0AEC0"/>
                </a:solidFill>
                <a:latin typeface="Segoe UI"/>
              </a:rPr>
              <a:t>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" y="54406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A0AEC0"/>
                </a:solidFill>
                <a:latin typeface="Segoe UI"/>
              </a:rPr>
              <a:t>RAG ENGINE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" y="960120"/>
            <a:ext cx="2560320" cy="640080"/>
          </a:xfrm>
          <a:prstGeom prst="rect">
            <a:avLst/>
          </a:prstGeom>
          <a:solidFill>
            <a:srgbClr val="1E243B"/>
          </a:solidFill>
          <a:ln w="19050">
            <a:solidFill>
              <a:srgbClr val="A0A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07592" y="1014984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User / Browser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1234440"/>
            <a:ext cx="2450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Segoe UI"/>
              </a:rPr>
              <a:t>ChatGPT · Claude · Gemini · Perplexity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960120"/>
            <a:ext cx="2743200" cy="640080"/>
          </a:xfrm>
          <a:prstGeom prst="rect">
            <a:avLst/>
          </a:prstGeom>
          <a:solidFill>
            <a:srgbClr val="1E243B"/>
          </a:solidFill>
          <a:ln w="1905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6512" y="1014984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Chrome Extension (MV3)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6512" y="1234440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Segoe UI"/>
              </a:rPr>
              <a:t>React 18 · Tailwind · Framer Motion
Zustand · Popup + Side Panel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1783080"/>
            <a:ext cx="2743200" cy="749808"/>
          </a:xfrm>
          <a:prstGeom prst="rect">
            <a:avLst/>
          </a:prstGeom>
          <a:solidFill>
            <a:srgbClr val="1E243B"/>
          </a:solidFill>
          <a:ln w="1905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96512" y="1837944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Background Service Worker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6512" y="2057400"/>
            <a:ext cx="2633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Segoe UI"/>
              </a:rPr>
              <a:t>executeScript DOM injection
CaptureQueue (durable · retry)
SessionOrchestrator · TabManager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1783080"/>
            <a:ext cx="2880360" cy="749808"/>
          </a:xfrm>
          <a:prstGeom prst="rect">
            <a:avLst/>
          </a:prstGeom>
          <a:solidFill>
            <a:srgbClr val="1E24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9752" y="1837944"/>
            <a:ext cx="2770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FastAPI Backend (Python 3.12)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2057400"/>
            <a:ext cx="27706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Segoe UI"/>
              </a:rPr>
              <a:t>ExtensionCORSMiddleware (pure-ASGI)
Routes: /projects /sessions /contexts /capture
Service → Repository pattern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2743200"/>
            <a:ext cx="1371600" cy="640080"/>
          </a:xfrm>
          <a:prstGeom prst="rect">
            <a:avLst/>
          </a:prstGeom>
          <a:solidFill>
            <a:srgbClr val="1E24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9752" y="2798064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9752" y="3017520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Segoe UI"/>
              </a:rPr>
              <a:t>Projects · Sessions · Contexts
Alembic migrations (5 versions)
JSONB for raw_content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1080" y="2743200"/>
            <a:ext cx="1325880" cy="640080"/>
          </a:xfrm>
          <a:prstGeom prst="rect">
            <a:avLst/>
          </a:prstGeom>
          <a:solidFill>
            <a:srgbClr val="1E24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14232" y="2798064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Redis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14232" y="3017520"/>
            <a:ext cx="1216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Segoe UI"/>
              </a:rPr>
              <a:t>Future: queue
&amp; caching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23360" y="2743200"/>
            <a:ext cx="2743200" cy="640080"/>
          </a:xfrm>
          <a:prstGeom prst="rect">
            <a:avLst/>
          </a:prstGeom>
          <a:solidFill>
            <a:srgbClr val="1E24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96512" y="2798064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Next.js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6512" y="3017520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Segoe UI"/>
              </a:rPr>
              <a:t>TanStack Query · TypeScript
Project view · Context list
Platform badge · Message viewer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34440" y="2624328"/>
            <a:ext cx="2560320" cy="640080"/>
          </a:xfrm>
          <a:prstGeom prst="rect">
            <a:avLst/>
          </a:prstGeom>
          <a:solidFill>
            <a:srgbClr val="1E243B"/>
          </a:solidFill>
          <a:ln w="1905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07592" y="2679192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Content Scripts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07592" y="2898648"/>
            <a:ext cx="2450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Segoe UI"/>
              </a:rPr>
              <a:t>chatgpt-cs · claude-cs
gemini-cs · perplexity-cs
Auto-scroll · DOM extraction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34440" y="5321808"/>
            <a:ext cx="87325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34440" y="5394960"/>
            <a:ext cx="8732520" cy="749808"/>
          </a:xfrm>
          <a:prstGeom prst="rect">
            <a:avLst/>
          </a:prstGeom>
          <a:solidFill>
            <a:srgbClr val="18140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07592" y="5449824"/>
            <a:ext cx="8622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Segoe UI"/>
              </a:rPr>
              <a:t>Advanced RAG Pipeline (Streamlit UI)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7592" y="5669280"/>
            <a:ext cx="8622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D3E8"/>
                </a:solidFill>
                <a:latin typeface="Segoe UI"/>
              </a:rPr>
              <a:t>BM25Retriever (rank-bm25) + VectorRetriever (ChromaDB + all-MiniLM-L6-v2) → RRF Fusion → CrossEncoder Reranker → Confidence Grader → CorrectiveRAG → RoBERTa ExtractiveQA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67328" y="117043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1581912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E56CF"/>
                </a:solidFill>
                <a:latin typeface="Segoe UI"/>
              </a:rPr>
              <a:t>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67328" y="283464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  <a:latin typeface="Segoe UI"/>
              </a:rPr>
              <a:t>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39128" y="205740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71231" y="2532888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Segoe UI"/>
              </a:rPr>
              <a:t>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2532888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Segoe UI"/>
              </a:rPr>
              <a:t>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39128" y="299923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  <a:latin typeface="Segoe UI"/>
              </a:rPr>
              <a:t>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34440" y="4462272"/>
            <a:ext cx="1083564" cy="256032"/>
          </a:xfrm>
          <a:prstGeom prst="rect">
            <a:avLst/>
          </a:prstGeom>
          <a:solidFill>
            <a:srgbClr val="1E243B"/>
          </a:solidFill>
          <a:ln w="1270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80160" y="4462272"/>
            <a:ext cx="10835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E56CF"/>
                </a:solidFill>
                <a:latin typeface="Segoe UI"/>
              </a:rPr>
              <a:t>Python 3.12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27732" y="4462272"/>
            <a:ext cx="772668" cy="256032"/>
          </a:xfrm>
          <a:prstGeom prst="rect">
            <a:avLst/>
          </a:prstGeom>
          <a:solidFill>
            <a:srgbClr val="1E24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73452" y="4462272"/>
            <a:ext cx="7726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8BDF8"/>
                </a:solidFill>
                <a:latin typeface="Segoe UI"/>
              </a:rPr>
              <a:t>FastAPI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10128" y="4462272"/>
            <a:ext cx="1472184" cy="256032"/>
          </a:xfrm>
          <a:prstGeom prst="rect">
            <a:avLst/>
          </a:prstGeom>
          <a:solidFill>
            <a:srgbClr val="1E24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55848" y="4462272"/>
            <a:ext cx="1472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4D399"/>
                </a:solidFill>
                <a:latin typeface="Segoe UI"/>
              </a:rPr>
              <a:t>SQLAlchemy async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92040" y="4462272"/>
            <a:ext cx="1005840" cy="256032"/>
          </a:xfrm>
          <a:prstGeom prst="rect">
            <a:avLst/>
          </a:prstGeom>
          <a:solidFill>
            <a:srgbClr val="1E243B"/>
          </a:solidFill>
          <a:ln w="12700">
            <a:solidFill>
              <a:srgbClr val="336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37760" y="44622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36B9E"/>
                </a:solidFill>
                <a:latin typeface="Segoe UI"/>
              </a:rPr>
              <a:t>PostgreSQL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07608" y="4462272"/>
            <a:ext cx="850392" cy="256032"/>
          </a:xfrm>
          <a:prstGeom prst="rect">
            <a:avLst/>
          </a:prstGeom>
          <a:solidFill>
            <a:srgbClr val="1E24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53328" y="4462272"/>
            <a:ext cx="850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BBF24"/>
                </a:solidFill>
                <a:latin typeface="Segoe UI"/>
              </a:rPr>
              <a:t>ChromaDB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67728" y="4462272"/>
            <a:ext cx="1860804" cy="256032"/>
          </a:xfrm>
          <a:prstGeom prst="rect">
            <a:avLst/>
          </a:prstGeom>
          <a:solidFill>
            <a:srgbClr val="1E243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13448" y="4462272"/>
            <a:ext cx="18608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C4899"/>
                </a:solidFill>
                <a:latin typeface="Segoe UI"/>
              </a:rPr>
              <a:t>sentence-transformers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38260" y="4462272"/>
            <a:ext cx="850392" cy="256032"/>
          </a:xfrm>
          <a:prstGeom prst="rect">
            <a:avLst/>
          </a:prstGeom>
          <a:solidFill>
            <a:srgbClr val="1E24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83980" y="4462272"/>
            <a:ext cx="850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8BDF8"/>
                </a:solidFill>
                <a:latin typeface="Segoe UI"/>
              </a:rPr>
              <a:t>React 18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898380" y="4462272"/>
            <a:ext cx="772668" cy="256032"/>
          </a:xfrm>
          <a:prstGeom prst="rect">
            <a:avLst/>
          </a:prstGeom>
          <a:solidFill>
            <a:srgbClr val="1E24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44100" y="4462272"/>
            <a:ext cx="7726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Segoe UI"/>
              </a:rPr>
              <a:t>Next.js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109728"/>
            <a:ext cx="502920" cy="274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03152" y="91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0F1A"/>
                </a:solidFill>
                <a:latin typeface="Segoe UI"/>
              </a:rPr>
              <a:t>03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Production Issue &amp;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EC0"/>
                </a:solidFill>
                <a:latin typeface="Segoe UI"/>
              </a:rPr>
              <a:t>Engineering challenges diagnosed and resolved during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447" y="868680"/>
            <a:ext cx="10970056" cy="127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60120"/>
            <a:ext cx="5577840" cy="2331720"/>
          </a:xfrm>
          <a:prstGeom prst="rect">
            <a:avLst/>
          </a:prstGeom>
          <a:solidFill>
            <a:srgbClr val="1E243B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960120"/>
            <a:ext cx="5577840" cy="640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0515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Segoe UI"/>
              </a:rPr>
              <a:t>Issue 1: CORS Headers Silently Swallowed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7488" y="1051560"/>
            <a:ext cx="685800" cy="2286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7488" y="105156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0F1A"/>
                </a:solidFill>
                <a:latin typeface="Segoe U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1344168"/>
            <a:ext cx="5394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87171"/>
                </a:solidFill>
                <a:latin typeface="Segoe UI"/>
              </a:rPr>
              <a:t>SYMPTOM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1508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Chrome extension fetch to http://localhost:8000 returned no CORS headers → all API calls blocked with 'No Access-Control-Allow-Origin' error.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1874520"/>
            <a:ext cx="5394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BBF24"/>
                </a:solidFill>
                <a:latin typeface="Segoe UI"/>
              </a:rPr>
              <a:t>ROOT CAUSE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203911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Triple-layer problem: (1) Starlette BaseHTTPMiddleware (RequestLoggingMiddleware) wraps the inner ASGI send() before CORSMiddleware can write headers. (2) allow_origin_regex was correct but headers got consumed. (3) Ghost uvicorn process from a previous session still held port 8000 — new (fixed) server couldn't bind, so old (unfixed) server kept responding.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2404872"/>
            <a:ext cx="5394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4D399"/>
                </a:solidFill>
                <a:latin typeface="Segoe UI"/>
              </a:rPr>
              <a:t>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" y="256946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Created ExtensionCORSMiddleware pure-ASGI shim — runs at the outermost ASGI layer (above all Starlette middleware), intercepts http.response.start and appends CORS headers directly. Killed ghost processes via PowerShell WMI query.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960120"/>
            <a:ext cx="5577840" cy="2331720"/>
          </a:xfrm>
          <a:prstGeom prst="rect">
            <a:avLst/>
          </a:prstGeom>
          <a:solidFill>
            <a:srgbClr val="1E24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960120"/>
            <a:ext cx="557784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8" y="10515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Segoe UI"/>
              </a:rPr>
              <a:t>Issue 2: 'Could Not Extract Conversation' Error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08208" y="1051560"/>
            <a:ext cx="685800" cy="228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08208" y="105156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0F1A"/>
                </a:solidFill>
                <a:latin typeface="Segoe UI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1344168"/>
            <a:ext cx="5394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87171"/>
                </a:solidFill>
                <a:latin typeface="Segoe UI"/>
              </a:rPr>
              <a:t>SYMPTOM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9048" y="1508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Clicking 'Capture Context' in popup always returned: 'Could not extract conversation. Try scrolling the page first.'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1874520"/>
            <a:ext cx="5394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BBF24"/>
                </a:solidFill>
                <a:latin typeface="Segoe UI"/>
              </a:rPr>
              <a:t>ROOT CAUSE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203911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chrome.tabs.sendMessage requires the target content script to be already registered and listening. If the content script hadn't fully initialized, or the active tab was on any non-AI page, the message had no recipient and threw a 'Could not establish connection' error.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9048" y="2404872"/>
            <a:ext cx="5394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4D399"/>
                </a:solidFill>
                <a:latin typeface="Segoe UI"/>
              </a:rPr>
              <a:t>RESOLUTION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9048" y="256946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Replaced chrome.tabs.sendMessage with chrome.scripting.executeScript — injects the full extraction function directly into the active tab at capture time. No pre-registration required. Added auto-scroll, platform auto-detection from hostname, structured message extraction, and 50k char body fallback.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383280"/>
            <a:ext cx="11750040" cy="457200"/>
          </a:xfrm>
          <a:prstGeom prst="rect">
            <a:avLst/>
          </a:prstGeom>
          <a:solidFill>
            <a:srgbClr val="0E183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40156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Segoe UI"/>
              </a:rPr>
              <a:t>📚  KEY LEARNINGS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01568"/>
            <a:ext cx="9738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3E8"/>
                </a:solidFill>
                <a:latin typeface="Segoe UI"/>
              </a:rPr>
              <a:t>Issue 1: Never use BaseHTTPMiddleware for CORS in FastAPI — it silently consumes headers. Always verify no orphan processes own the port.  |  Issue 2: Use chrome.scripting.executeScript for reliable on-demand DOM extraction in MV3 extensions — no content script pre-registration required.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3931920"/>
            <a:ext cx="11750040" cy="2697480"/>
          </a:xfrm>
          <a:prstGeom prst="rect">
            <a:avLst/>
          </a:prstGeom>
          <a:solidFill>
            <a:srgbClr val="1E243B"/>
          </a:solidFill>
          <a:ln w="1905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" y="3931920"/>
            <a:ext cx="11750040" cy="64008"/>
          </a:xfrm>
          <a:prstGeom prst="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" y="4014215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Segoe UI"/>
              </a:rPr>
              <a:t>Issue 3: Retrieval Confidence — Averaging Reranker Scores Gave False Negatives (RAG Pipeline)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432511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87171"/>
                </a:solidFill>
                <a:latin typeface="Segoe UI"/>
              </a:rPr>
              <a:t>SYMPTOM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45262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Retrieving a highly relevant document alongside many irrelevant ones produced strongly negative average reranker score, triggering unnecessary corrective retrieval even when the top result was correct.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72968" y="432511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BBF24"/>
                </a:solidFill>
                <a:latin typeface="Segoe UI"/>
              </a:rPr>
              <a:t>ROOT CAUSE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72968" y="45262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Averaging all candidate scores (cross-encoder/ms-marco-MiniLM) is misleading — scores range from +5 (relevant) to -11 (irrelevant). Averaging dilutes the signal of one strong positive result.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25896" y="432511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4D399"/>
                </a:solidFill>
                <a:latin typeface="Segoe UI"/>
              </a:rPr>
              <a:t>RESOLUTION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25896" y="45262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Switched confidence metric to TOP SCORE + SCORE MARGIN. High top score (&gt;2.0) + large margin (&gt;5.0) = HIGH confidence. Added retrieval agreement signal: if both BM25 and vector independently retrieved the document at rank ≤10, MEDIUM is upgraded to HIGH.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78824" y="432511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E56CF"/>
                </a:solidFill>
                <a:latin typeface="Segoe UI"/>
              </a:rPr>
              <a:t>LEARNING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78824" y="45262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In cross-encoder reranking, top score and inter-result margin are the reliable signals — not aggregate statistics. Retrieval agreement between BM25 and vector search is a strong signal of document relevance.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109728"/>
            <a:ext cx="502920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03152" y="91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0F1A"/>
                </a:solidFill>
                <a:latin typeface="Segoe UI"/>
              </a:rPr>
              <a:t>04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AI Agent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EC0"/>
                </a:solidFill>
                <a:latin typeface="Segoe UI"/>
              </a:rPr>
              <a:t>Agentic retrieval design, orchestration, and autonomous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447" y="868680"/>
            <a:ext cx="10970056" cy="127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56CF"/>
                </a:solidFill>
                <a:latin typeface="Segoe UI"/>
              </a:rPr>
              <a:t>AGENTIC / CORRECTIVE RAG 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668" y="1216152"/>
            <a:ext cx="11457614" cy="12700"/>
          </a:xfrm>
          <a:prstGeom prst="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261872"/>
            <a:ext cx="1234440" cy="658368"/>
          </a:xfrm>
          <a:prstGeom prst="rect">
            <a:avLst/>
          </a:prstGeom>
          <a:solidFill>
            <a:srgbClr val="1E243B"/>
          </a:solidFill>
          <a:ln w="19050">
            <a:solidFill>
              <a:srgbClr val="A0A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316736"/>
            <a:ext cx="11612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User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2184" y="14630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1261872"/>
            <a:ext cx="1234440" cy="658368"/>
          </a:xfrm>
          <a:prstGeom prst="rect">
            <a:avLst/>
          </a:prstGeom>
          <a:solidFill>
            <a:srgbClr val="1E24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1316736"/>
            <a:ext cx="11612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8BDF8"/>
                </a:solidFill>
                <a:latin typeface="Segoe UI"/>
              </a:rPr>
              <a:t>Query Transformer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8064" y="14630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1261872"/>
            <a:ext cx="1234440" cy="658368"/>
          </a:xfrm>
          <a:prstGeom prst="rect">
            <a:avLst/>
          </a:prstGeom>
          <a:solidFill>
            <a:srgbClr val="1E243B"/>
          </a:solidFill>
          <a:ln w="1905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1316736"/>
            <a:ext cx="11612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E56CF"/>
                </a:solidFill>
                <a:latin typeface="Segoe UI"/>
              </a:rPr>
              <a:t>Hybrid Retrieval
BM25 + Vector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4" y="14630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261872"/>
            <a:ext cx="1234440" cy="658368"/>
          </a:xfrm>
          <a:prstGeom prst="rect">
            <a:avLst/>
          </a:prstGeom>
          <a:solidFill>
            <a:srgbClr val="1E243B"/>
          </a:solidFill>
          <a:ln w="1905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1316736"/>
            <a:ext cx="11612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E56CF"/>
                </a:solidFill>
                <a:latin typeface="Segoe UI"/>
              </a:rPr>
              <a:t>RRF 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9824" y="14630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32120" y="1261872"/>
            <a:ext cx="1234440" cy="658368"/>
          </a:xfrm>
          <a:prstGeom prst="rect">
            <a:avLst/>
          </a:prstGeom>
          <a:solidFill>
            <a:srgbClr val="1E243B"/>
          </a:solidFill>
          <a:ln w="1905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1316736"/>
            <a:ext cx="11612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E56CF"/>
                </a:solidFill>
                <a:latin typeface="Segoe UI"/>
              </a:rPr>
              <a:t>Cross-Encoder
Reranker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14630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1261872"/>
            <a:ext cx="1234440" cy="658368"/>
          </a:xfrm>
          <a:prstGeom prst="rect">
            <a:avLst/>
          </a:prstGeom>
          <a:solidFill>
            <a:srgbClr val="1E24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1316736"/>
            <a:ext cx="11612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Segoe UI"/>
              </a:rPr>
              <a:t>Confidence
Grader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1584" y="14630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80" y="1261872"/>
            <a:ext cx="1234440" cy="658368"/>
          </a:xfrm>
          <a:prstGeom prst="rect">
            <a:avLst/>
          </a:prstGeom>
          <a:solidFill>
            <a:srgbClr val="1E24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316736"/>
            <a:ext cx="11612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  <a:latin typeface="Segoe UI"/>
              </a:rPr>
              <a:t>Answer
Extractor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7464" y="14630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9760" y="1261872"/>
            <a:ext cx="1234440" cy="658368"/>
          </a:xfrm>
          <a:prstGeom prst="rect">
            <a:avLst/>
          </a:prstGeom>
          <a:solidFill>
            <a:srgbClr val="14281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55480" y="1316736"/>
            <a:ext cx="11612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  <a:latin typeface="Segoe UI"/>
              </a:rPr>
              <a:t>Final Answer
+ Citation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1938528"/>
            <a:ext cx="3474720" cy="347472"/>
          </a:xfrm>
          <a:prstGeom prst="rect">
            <a:avLst/>
          </a:prstGeom>
          <a:solidFill>
            <a:srgbClr val="2A180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195681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BBF24"/>
                </a:solidFill>
                <a:latin typeface="Segoe UI"/>
              </a:rPr>
              <a:t>↩  Corrective Retrieval: LOW/MEDIUM confidence → synonym expansion or query simplification → re-retrieve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2423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56CF"/>
                </a:solidFill>
                <a:latin typeface="Segoe UI"/>
              </a:rPr>
              <a:t>IMPLEMENTED AGENTIC CAPABILITIES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668" y="2679192"/>
            <a:ext cx="11457614" cy="12700"/>
          </a:xfrm>
          <a:prstGeom prst="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" y="2697480"/>
            <a:ext cx="1920240" cy="329184"/>
          </a:xfrm>
          <a:prstGeom prst="rect">
            <a:avLst/>
          </a:prstGeom>
          <a:solidFill>
            <a:srgbClr val="6E56CF"/>
          </a:solidFill>
          <a:ln w="635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" y="27340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Capability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48840" y="2697480"/>
            <a:ext cx="3474720" cy="329184"/>
          </a:xfrm>
          <a:prstGeom prst="rect">
            <a:avLst/>
          </a:prstGeom>
          <a:solidFill>
            <a:srgbClr val="6E56CF"/>
          </a:solidFill>
          <a:ln w="635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03704" y="273405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Implementation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23560" y="2697480"/>
            <a:ext cx="3474720" cy="329184"/>
          </a:xfrm>
          <a:prstGeom prst="rect">
            <a:avLst/>
          </a:prstGeom>
          <a:solidFill>
            <a:srgbClr val="6E56CF"/>
          </a:solidFill>
          <a:ln w="635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78424" y="273405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Code Location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98280" y="2697480"/>
            <a:ext cx="1645920" cy="329184"/>
          </a:xfrm>
          <a:prstGeom prst="rect">
            <a:avLst/>
          </a:prstGeom>
          <a:solidFill>
            <a:srgbClr val="6E56CF"/>
          </a:solidFill>
          <a:ln w="635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53144" y="273405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Status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3026664"/>
            <a:ext cx="192024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3464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Query Decomposition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48840" y="3026664"/>
            <a:ext cx="34747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03704" y="3063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Multi-subquery splitting on 'and/or/;' — each subquery runs independently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23560" y="3026664"/>
            <a:ext cx="34747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78424" y="3063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retrieval/query_transform.py · transform_query_full()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98280" y="3026664"/>
            <a:ext cx="16459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53144" y="3063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Segoe UI"/>
              </a:rPr>
              <a:t>✅ Done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3355848"/>
            <a:ext cx="192024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3464" y="33924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Typo &amp; Acronym Correction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48840" y="3355848"/>
            <a:ext cx="34747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03704" y="33924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Rule-based typo map + acronym expansion (2FA→two-factor auth, WFH→work from home)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23560" y="3355848"/>
            <a:ext cx="34747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78424" y="33924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retrieval/query_transform.py · _correct_typos(), _expand_acronyms()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98280" y="3355848"/>
            <a:ext cx="16459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53144" y="33924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Segoe UI"/>
              </a:rPr>
              <a:t>✅ Done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" y="3685032"/>
            <a:ext cx="192024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3464" y="3721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Confidence Grading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48840" y="3685032"/>
            <a:ext cx="34747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03704" y="37216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Composite HIGH/MEDIUM/LOW — top score + margin + BM25↔vector agreement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23560" y="3685032"/>
            <a:ext cx="34747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78424" y="37216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retrieval/retrieval_grader.py · grade_retrieval()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98280" y="3685032"/>
            <a:ext cx="16459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53144" y="3721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Segoe UI"/>
              </a:rPr>
              <a:t>✅ Done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8600" y="4014216"/>
            <a:ext cx="192024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3464" y="40507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Corrective Retrieval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148840" y="4014216"/>
            <a:ext cx="34747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03704" y="40507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On LOW/MEDIUM: tries synonym expansion then query simplification; adopts first that improves score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23560" y="4014216"/>
            <a:ext cx="34747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678424" y="40507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ui/streamlit_app.py · _CORRECTIVE_STRATEGIES loop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98280" y="4014216"/>
            <a:ext cx="16459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53144" y="40507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Segoe UI"/>
              </a:rPr>
              <a:t>✅ Done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8600" y="4343400"/>
            <a:ext cx="192024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83464" y="43799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Hybrid Retrieval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148840" y="4343400"/>
            <a:ext cx="34747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03704" y="43799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BM25 Okapi + ChromaDB vector search in parallel → RRF fusion (k=60)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23560" y="4343400"/>
            <a:ext cx="34747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78424" y="43799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retrieval/bm25_retriever.py + vector_retriever.py + rrf.py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098280" y="4343400"/>
            <a:ext cx="16459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53144" y="43799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Segoe UI"/>
              </a:rPr>
              <a:t>✅ Done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28600" y="4672584"/>
            <a:ext cx="192024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83464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Fallback Strategy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148840" y="4672584"/>
            <a:ext cx="34747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203704" y="4709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If no confident span: return full top chunk rather than silence (HIGH/MEDIUM only)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23560" y="4672584"/>
            <a:ext cx="34747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678424" y="4709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generation/extractive_qa.py · fallback_to_context=True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098280" y="4672584"/>
            <a:ext cx="16459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53144" y="4709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Segoe UI"/>
              </a:rPr>
              <a:t>✅ Done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28600" y="5001768"/>
            <a:ext cx="192024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83464" y="50383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Context Capture Agent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148840" y="5001768"/>
            <a:ext cx="34747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203704" y="50383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Browser extension as capture agent: auto-scroll → extract → idempotency → queue → backend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623560" y="5001768"/>
            <a:ext cx="34747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678424" y="50383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src/background.ts · handleCaptureRequest()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098280" y="5001768"/>
            <a:ext cx="16459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153144" y="50383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Segoe UI"/>
              </a:rPr>
              <a:t>✅ Done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28600" y="5330952"/>
            <a:ext cx="192024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83464" y="5367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Durable Task Queue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148840" y="5330952"/>
            <a:ext cx="34747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203704" y="53675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CaptureQueue with exponential backoff, max 5 attempts, TTL cleanup, chrome.storage.local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623560" y="5330952"/>
            <a:ext cx="34747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678424" y="53675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src/core/CaptureQueue.ts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098280" y="5330952"/>
            <a:ext cx="1645920" cy="329184"/>
          </a:xfrm>
          <a:prstGeom prst="rect">
            <a:avLst/>
          </a:prstGeom>
          <a:solidFill>
            <a:srgbClr val="1E243B"/>
          </a:solidFill>
          <a:ln w="6350">
            <a:solidFill>
              <a:srgbClr val="2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153144" y="5367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Segoe UI"/>
              </a:rPr>
              <a:t>✅ Done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109728"/>
            <a:ext cx="502920" cy="274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03152" y="91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0F1A"/>
                </a:solidFill>
                <a:latin typeface="Segoe UI"/>
              </a:rPr>
              <a:t>05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Additional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EC0"/>
                </a:solidFill>
                <a:latin typeface="Segoe UI"/>
              </a:rPr>
              <a:t>Engineering decisions, production features &amp;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447" y="868680"/>
            <a:ext cx="10970056" cy="127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56CF"/>
                </a:solidFill>
                <a:latin typeface="Segoe UI"/>
              </a:rPr>
              <a:t>PRODUCTION-GRADE ENGINEERING 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668" y="1216152"/>
            <a:ext cx="11457614" cy="12700"/>
          </a:xfrm>
          <a:prstGeom prst="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234440"/>
            <a:ext cx="5486400" cy="658368"/>
          </a:xfrm>
          <a:prstGeom prst="rect">
            <a:avLst/>
          </a:prstGeom>
          <a:solidFill>
            <a:srgbClr val="1E24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234440"/>
            <a:ext cx="54864" cy="6583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8016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Segoe UI"/>
              </a:rPr>
              <a:t>Multi-Stage Docker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81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python:3.12-slim builder → runtime. Non-root appuser (UID 1001). curl health-check every 30s. uvloop for async performance.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947672"/>
            <a:ext cx="5486400" cy="658368"/>
          </a:xfrm>
          <a:prstGeom prst="rect">
            <a:avLst/>
          </a:prstGeom>
          <a:solidFill>
            <a:srgbClr val="1E24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1947672"/>
            <a:ext cx="54864" cy="6583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99339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Segoe UI"/>
              </a:rPr>
              <a:t>Alembic Migration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1945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5 versioned migrations (0001→0005). Adds idempotency_key UNIQUE partial index, title, platform, chat_url, messages_count columns to contexts.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660904"/>
            <a:ext cx="5486400" cy="658368"/>
          </a:xfrm>
          <a:prstGeom prst="rect">
            <a:avLst/>
          </a:prstGeom>
          <a:solidFill>
            <a:srgbClr val="1E243B"/>
          </a:solidFill>
          <a:ln w="1524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2660904"/>
            <a:ext cx="54864" cy="658368"/>
          </a:xfrm>
          <a:prstGeom prst="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70662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56CF"/>
                </a:solidFill>
                <a:latin typeface="Segoe UI"/>
              </a:rPr>
              <a:t>Repository + Service Pattern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90779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ContextRepository, SessionRepository, ProjectRepository — clean separation of SQL from business logic. get_counts() via correlated subqueries.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374136"/>
            <a:ext cx="5486400" cy="658368"/>
          </a:xfrm>
          <a:prstGeom prst="rect">
            <a:avLst/>
          </a:prstGeom>
          <a:solidFill>
            <a:srgbClr val="1E243B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3374136"/>
            <a:ext cx="54864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41985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Segoe UI"/>
              </a:rPr>
              <a:t>Structured Logging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62102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structlog with JSON output. Every request logs method, path, status_code, duration_ms, request_id. Context operations log platform, messages count.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087368"/>
            <a:ext cx="5486400" cy="658368"/>
          </a:xfrm>
          <a:prstGeom prst="rect">
            <a:avLst/>
          </a:prstGeom>
          <a:solidFill>
            <a:srgbClr val="1E243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4087368"/>
            <a:ext cx="54864" cy="65836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13308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Segoe UI"/>
              </a:rPr>
              <a:t>Test Suite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33425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pytest-asyncio: test_health, test_projects, test_sessions, test_contexts, test_base_repository, test_project_service. httpx TestClient.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4800600"/>
            <a:ext cx="5486400" cy="658368"/>
          </a:xfrm>
          <a:prstGeom prst="rect">
            <a:avLst/>
          </a:prstGeom>
          <a:solidFill>
            <a:srgbClr val="1E24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4800600"/>
            <a:ext cx="54864" cy="6583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84632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Segoe UI"/>
              </a:rPr>
              <a:t>Idempotent Capture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0474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SHA-256 of (projectId + URL + minute-bucket). Backend checks idempotency_key before insert — duplicate captures return HTTP 200 with original.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56CF"/>
                </a:solidFill>
                <a:latin typeface="Segoe UI"/>
              </a:rPr>
              <a:t>EXTENSION ARCHITECTURE HIGHLIGHTS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668" y="1216152"/>
            <a:ext cx="11457614" cy="12700"/>
          </a:xfrm>
          <a:prstGeom prst="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35040" y="1234440"/>
            <a:ext cx="5943600" cy="777240"/>
          </a:xfrm>
          <a:prstGeom prst="rect">
            <a:avLst/>
          </a:prstGeom>
          <a:solidFill>
            <a:srgbClr val="1E243B"/>
          </a:solidFill>
          <a:ln w="1524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1234440"/>
            <a:ext cx="54864" cy="777240"/>
          </a:xfrm>
          <a:prstGeom prst="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1280160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56CF"/>
                </a:solidFill>
                <a:latin typeface="Segoe UI"/>
              </a:rPr>
              <a:t>Vite IIFE Build (not ESM)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1481328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Chrome extension resources served as application/octet-stream — ESM type=module causes MIME error. Switched to two IIFE Vite configs: vite.popup.config.ts + vite.sidepanel.config.ts.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066544"/>
            <a:ext cx="5943600" cy="777240"/>
          </a:xfrm>
          <a:prstGeom prst="rect">
            <a:avLst/>
          </a:prstGeom>
          <a:solidFill>
            <a:srgbClr val="1E24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066544"/>
            <a:ext cx="54864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2112264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Segoe UI"/>
              </a:rPr>
              <a:t>Zustand + chrome.storage Adapter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2313432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Custom chromeStorage adapter persists Zustand store subset (activeProjectId, projects) across popup opens. No localStorage (unavailable in SW).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2898648"/>
            <a:ext cx="5943600" cy="777240"/>
          </a:xfrm>
          <a:prstGeom prst="rect">
            <a:avLst/>
          </a:prstGeom>
          <a:solidFill>
            <a:srgbClr val="1E243B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2898648"/>
            <a:ext cx="54864" cy="777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2944368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Segoe UI"/>
              </a:rPr>
              <a:t>CaptureQueue — Durable Retry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3145536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Entries: id, projectId, payload, status, attempts, lastAttempt. Exponential backoff, max 5 attempts. TTL: done=1 day, failed=7 days. Survives SW restarts.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3730752"/>
            <a:ext cx="5943600" cy="777240"/>
          </a:xfrm>
          <a:prstGeom prst="rect">
            <a:avLst/>
          </a:prstGeom>
          <a:solidFill>
            <a:srgbClr val="1E24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35040" y="3730752"/>
            <a:ext cx="54864" cy="777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72200" y="3776472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Segoe UI"/>
              </a:rPr>
              <a:t>Platform Auto-Detection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72200" y="3977640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Injected script reads document.location.hostname to detect chatgpt.com, claude.ai, gemini.google.com, perplexity.ai. Falls back to document.body.innerText (50k chars).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4562856"/>
            <a:ext cx="5943600" cy="777240"/>
          </a:xfrm>
          <a:prstGeom prst="rect">
            <a:avLst/>
          </a:prstGeom>
          <a:solidFill>
            <a:srgbClr val="1E243B"/>
          </a:solidFill>
          <a:ln w="15240">
            <a:solidFill>
              <a:srgbClr val="A0A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35040" y="4562856"/>
            <a:ext cx="54864" cy="77724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72200" y="4608576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AEC0"/>
                </a:solidFill>
                <a:latin typeface="Segoe UI"/>
              </a:rPr>
              <a:t>DiagnosticsBar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2200" y="4809744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3E8"/>
                </a:solidFill>
                <a:latin typeface="Segoe UI"/>
              </a:rPr>
              <a:t>Live backend health dot, project count badge, last sync timestamp, retry button on error — always visible in popup header.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5596128"/>
            <a:ext cx="11750040" cy="1097280"/>
          </a:xfrm>
          <a:prstGeom prst="rect">
            <a:avLst/>
          </a:prstGeom>
          <a:solidFill>
            <a:srgbClr val="0A1428"/>
          </a:solidFill>
          <a:ln w="12700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56144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56CF"/>
                </a:solidFill>
                <a:latin typeface="Segoe UI"/>
              </a:rPr>
              <a:t>ROADMAP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463040" y="5641848"/>
            <a:ext cx="2011680" cy="960120"/>
          </a:xfrm>
          <a:prstGeom prst="rect">
            <a:avLst/>
          </a:prstGeom>
          <a:solidFill>
            <a:srgbClr val="1E243B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527048" y="565099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8BDF8"/>
                </a:solidFill>
                <a:latin typeface="Segoe UI"/>
              </a:rPr>
              <a:t>Connect RAG → Backend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27048" y="58978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3E8"/>
                </a:solidFill>
                <a:latin typeface="Segoe UI"/>
              </a:rPr>
              <a:t>POST /api/v1/projects/{id}/query endpoint; route captured contexts through RAG pipeline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47872" y="5641848"/>
            <a:ext cx="2011680" cy="960120"/>
          </a:xfrm>
          <a:prstGeom prst="rect">
            <a:avLst/>
          </a:prstGeom>
          <a:solidFill>
            <a:srgbClr val="1E243B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11880" y="565099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8BDF8"/>
                </a:solidFill>
                <a:latin typeface="Segoe UI"/>
              </a:rPr>
              <a:t>LangGraph Corrective Loop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11880" y="58978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3E8"/>
                </a:solidFill>
                <a:latin typeface="Segoe UI"/>
              </a:rPr>
              <a:t>Formalize corrective retrieval as a graph with conditional edges (grade → branch → retry)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32704" y="5641848"/>
            <a:ext cx="2011680" cy="960120"/>
          </a:xfrm>
          <a:prstGeom prst="rect">
            <a:avLst/>
          </a:prstGeom>
          <a:solidFill>
            <a:srgbClr val="1E243B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96712" y="565099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8BDF8"/>
                </a:solidFill>
                <a:latin typeface="Segoe UI"/>
              </a:rPr>
              <a:t>Semantic Search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96712" y="58978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3E8"/>
                </a:solidFill>
                <a:latin typeface="Segoe UI"/>
              </a:rPr>
              <a:t>Embed stored contexts with all-MiniLM-L6-v2; expose similarity search across projects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17536" y="5641848"/>
            <a:ext cx="2011680" cy="960120"/>
          </a:xfrm>
          <a:prstGeom prst="rect">
            <a:avLst/>
          </a:prstGeom>
          <a:solidFill>
            <a:srgbClr val="1E243B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81544" y="565099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8BDF8"/>
                </a:solidFill>
                <a:latin typeface="Segoe UI"/>
              </a:rPr>
              <a:t>LLM Answer Generation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81544" y="58978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3E8"/>
                </a:solidFill>
                <a:latin typeface="Segoe UI"/>
              </a:rPr>
              <a:t>Add GPT-4o / Claude 3.5 generative answer layer on top of extractive QA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802368" y="5641848"/>
            <a:ext cx="2011680" cy="960120"/>
          </a:xfrm>
          <a:prstGeom prst="rect">
            <a:avLst/>
          </a:prstGeom>
          <a:solidFill>
            <a:srgbClr val="1E243B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866376" y="565099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8BDF8"/>
                </a:solidFill>
                <a:latin typeface="Segoe UI"/>
              </a:rPr>
              <a:t>Dashboard Analytics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66376" y="58978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3E8"/>
                </a:solidFill>
                <a:latin typeface="Segoe UI"/>
              </a:rPr>
              <a:t>Token usage, capture frequency, top topics per project via JSONB aggregation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